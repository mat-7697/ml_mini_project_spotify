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3" d="100"/>
          <a:sy n="33" d="100"/>
        </p:scale>
        <p:origin x="1085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 Mateen Shaikh" userId="67734593e618f701" providerId="LiveId" clId="{C57189F1-0D05-42FC-A3D0-08B3230139CD}"/>
    <pc:docChg chg="modSld">
      <pc:chgData name="Abdul Mateen Shaikh" userId="67734593e618f701" providerId="LiveId" clId="{C57189F1-0D05-42FC-A3D0-08B3230139CD}" dt="2026-10-14T05:02:36.054" v="83" actId="20577"/>
      <pc:docMkLst>
        <pc:docMk/>
      </pc:docMkLst>
      <pc:sldChg chg="modSp mod">
        <pc:chgData name="Abdul Mateen Shaikh" userId="67734593e618f701" providerId="LiveId" clId="{C57189F1-0D05-42FC-A3D0-08B3230139CD}" dt="2026-10-14T05:02:36.054" v="83" actId="20577"/>
        <pc:sldMkLst>
          <pc:docMk/>
          <pc:sldMk cId="0" sldId="256"/>
        </pc:sldMkLst>
        <pc:spChg chg="mod">
          <ac:chgData name="Abdul Mateen Shaikh" userId="67734593e618f701" providerId="LiveId" clId="{C57189F1-0D05-42FC-A3D0-08B3230139CD}" dt="2026-10-14T05:02:36.054" v="83" actId="20577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4A7E"/>
                </a:solidFill>
              </a:defRPr>
            </a:pPr>
            <a:r>
              <a:t>Spotify Playlist Curator Using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6E"/>
                </a:solidFill>
              </a:defRPr>
            </a:pPr>
            <a:r>
              <a:t>UE24CS352A — Machine Learning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32317"/>
            <a:ext cx="10789920" cy="3141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400"/>
            </a:pPr>
            <a:r>
              <a:rPr dirty="0"/>
              <a:t>Problem: predict one of 13 selected playlist classes from song features</a:t>
            </a:r>
          </a:p>
          <a:p>
            <a:pPr>
              <a:spcAft>
                <a:spcPts val="1300"/>
              </a:spcAft>
              <a:defRPr sz="2400"/>
            </a:pPr>
            <a:r>
              <a:rPr dirty="0"/>
              <a:t>Inspired by: </a:t>
            </a:r>
            <a:r>
              <a:rPr dirty="0" err="1"/>
              <a:t>Awadelkarim</a:t>
            </a:r>
            <a:r>
              <a:rPr dirty="0"/>
              <a:t> &amp; Coelho, “Training a Playlist Curator Based on User Taste”</a:t>
            </a:r>
            <a:endParaRPr lang="en-US" dirty="0"/>
          </a:p>
          <a:p>
            <a:pPr>
              <a:spcAft>
                <a:spcPts val="1300"/>
              </a:spcAft>
              <a:defRPr sz="2400"/>
            </a:pPr>
            <a:endParaRPr lang="en-IN" dirty="0"/>
          </a:p>
          <a:p>
            <a:pPr>
              <a:spcAft>
                <a:spcPts val="1300"/>
              </a:spcAft>
              <a:defRPr sz="2400"/>
            </a:pPr>
            <a:r>
              <a:rPr lang="en-IN" dirty="0"/>
              <a:t>PES1UG24AM332 		Abdul Mateen Shaikh</a:t>
            </a:r>
          </a:p>
          <a:p>
            <a:pPr>
              <a:spcAft>
                <a:spcPts val="1300"/>
              </a:spcAft>
              <a:defRPr sz="2400"/>
            </a:pPr>
            <a:r>
              <a:rPr lang="en-IN" dirty="0"/>
              <a:t>PES1UG24AM331		</a:t>
            </a:r>
            <a:r>
              <a:rPr lang="en-IN"/>
              <a:t>Aarya Prasad G</a:t>
            </a:r>
          </a:p>
          <a:p>
            <a:pPr>
              <a:spcAft>
                <a:spcPts val="1300"/>
              </a:spcAft>
              <a:defRPr sz="2400"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4A7E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/>
            </a:pPr>
            <a:r>
              <a:t>Playlist assignment is subjective and may depend on several interacting song attributes.</a:t>
            </a:r>
          </a:p>
          <a:p>
            <a:pPr>
              <a:spcAft>
                <a:spcPts val="1300"/>
              </a:spcAft>
              <a:defRPr sz="2200"/>
            </a:pPr>
            <a:r>
              <a:t>Formulate playlist prediction as supervised multiclass classification.</a:t>
            </a:r>
          </a:p>
          <a:p>
            <a:pPr>
              <a:spcAft>
                <a:spcPts val="1300"/>
              </a:spcAft>
              <a:defRPr sz="2200"/>
            </a:pPr>
            <a:r>
              <a:t>Compare paper-inspired baselines with richer features and modern tabular models.</a:t>
            </a:r>
          </a:p>
          <a:p>
            <a:pPr>
              <a:spcAft>
                <a:spcPts val="1300"/>
              </a:spcAft>
              <a:defRPr sz="2200"/>
            </a:pPr>
            <a:r>
              <a:t>Evaluate performance using artist-grouped cross-validation and a held-out test 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4A7E"/>
                </a:solidFill>
              </a:defRPr>
            </a:pPr>
            <a:r>
              <a:t>Dataset &amp;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/>
            </a:pPr>
            <a:r>
              <a:t>Source: spotify_songs.csv — 32,833 rows × 23 columns.</a:t>
            </a:r>
          </a:p>
          <a:p>
            <a:pPr>
              <a:spcAft>
                <a:spcPts val="1300"/>
              </a:spcAft>
              <a:defRPr sz="2200"/>
            </a:pPr>
            <a:r>
              <a:t>Audio fields include danceability, energy, key, loudness, acousticness, valence, tempo and duration.</a:t>
            </a:r>
          </a:p>
          <a:p>
            <a:pPr>
              <a:spcAft>
                <a:spcPts val="1300"/>
              </a:spcAft>
              <a:defRPr sz="2200"/>
            </a:pPr>
            <a:r>
              <a:t>Notebook selects 13 eligible playlists; cleaned experiment subset: 1,241 tracks.</a:t>
            </a:r>
          </a:p>
          <a:p>
            <a:pPr>
              <a:spcAft>
                <a:spcPts val="1300"/>
              </a:spcAft>
              <a:defRPr sz="2200"/>
            </a:pPr>
            <a:r>
              <a:t>Exclude playlist-identifying/target-derived columns from model inputs.</a:t>
            </a:r>
          </a:p>
          <a:p>
            <a:pPr>
              <a:spcAft>
                <a:spcPts val="1300"/>
              </a:spcAft>
              <a:defRPr sz="2200"/>
            </a:pPr>
            <a:r>
              <a:t>Create audio-only and extended-feature representations; group train/test by artist.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4A7E"/>
                </a:solidFill>
              </a:defRPr>
            </a:pPr>
            <a:r>
              <a:t>Paper-Inspired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/>
            </a:pPr>
            <a:r>
              <a:t>Perceptron: linear classification baseline.</a:t>
            </a:r>
          </a:p>
          <a:p>
            <a:pPr>
              <a:spcAft>
                <a:spcPts val="1300"/>
              </a:spcAft>
              <a:defRPr sz="2200"/>
            </a:pPr>
            <a:r>
              <a:t>SVM kernels: RBF, sigmoid and polynomial; evaluate scaled and unscaled features.</a:t>
            </a:r>
          </a:p>
          <a:p>
            <a:pPr>
              <a:spcAft>
                <a:spcPts val="1300"/>
              </a:spcAft>
              <a:defRPr sz="2200"/>
            </a:pPr>
            <a:r>
              <a:t>PyTorch neural networks: one sigmoid hidden layer and a two-hidden-layer comparison.</a:t>
            </a:r>
          </a:p>
          <a:p>
            <a:pPr>
              <a:spcAft>
                <a:spcPts val="1300"/>
              </a:spcAft>
              <a:defRPr sz="2200"/>
            </a:pPr>
            <a:r>
              <a:t>Paper's original 2,095 artist-genre indicators are unavailable in the supplied CSV.</a:t>
            </a:r>
          </a:p>
          <a:p>
            <a:pPr>
              <a:spcAft>
                <a:spcPts val="1300"/>
              </a:spcAft>
              <a:defRPr sz="2200"/>
            </a:pPr>
            <a:r>
              <a:t>Therefore, this is a paper-aligned adaptation, not an exact reproduction.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4A7E"/>
                </a:solidFill>
              </a:defRPr>
            </a:pPr>
            <a:r>
              <a:t>Enhanced Models &amp;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/>
            </a:pPr>
            <a:r>
              <a:t>Models: Logistic Regression, Random Forest, Extra Trees, RBF SVM, MLP and HistGradientBoosting.</a:t>
            </a:r>
          </a:p>
          <a:p>
            <a:pPr>
              <a:spcAft>
                <a:spcPts val="1300"/>
              </a:spcAft>
              <a:defRPr sz="2200"/>
            </a:pPr>
            <a:r>
              <a:t>Engineered features include transformed duration, release year/decade and audio-feature interactions.</a:t>
            </a:r>
          </a:p>
          <a:p>
            <a:pPr>
              <a:spcAft>
                <a:spcPts val="1300"/>
              </a:spcAft>
              <a:defRPr sz="2200"/>
            </a:pPr>
            <a:r>
              <a:t>Randomized hyperparameter search for HistGradientBoosting and Random Forest.</a:t>
            </a:r>
          </a:p>
          <a:p>
            <a:pPr>
              <a:spcAft>
                <a:spcPts val="1300"/>
              </a:spcAft>
              <a:defRPr sz="2200"/>
            </a:pPr>
            <a:r>
              <a:t>Equal and weighted soft-voting ensembles combine HistGradientBoosting, Random Forest and Extra Trees.</a:t>
            </a:r>
          </a:p>
          <a:p>
            <a:pPr>
              <a:spcAft>
                <a:spcPts val="1300"/>
              </a:spcAft>
              <a:defRPr sz="2200"/>
            </a:pPr>
            <a:r>
              <a:t>Feature ablation compares audio-only inputs with extended features.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4A7E"/>
                </a:solidFill>
              </a:defRPr>
            </a:pPr>
            <a:r>
              <a:t>Recorded Held-Out Test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6E"/>
                </a:solidFill>
              </a:defRPr>
            </a:pPr>
            <a:r>
              <a:t>Metrics from the combined notebook run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789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Macro-F1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Equal soft-voting ensemble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77.82%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0.761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Weighted soft-voting ensemble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77.42%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0.757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Tuned HistGradientBoosting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76.61%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0.748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Tuned 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76.21%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0.755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12064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/>
            </a:pPr>
            <a:r>
              <a:t>Equal soft-voting ensemble: 77.82% accuracy; macro-F1 = 0.761.</a:t>
            </a:r>
          </a:p>
          <a:p>
            <a:pPr>
              <a:spcAft>
                <a:spcPts val="1300"/>
              </a:spcAft>
              <a:defRPr sz="1600"/>
            </a:pPr>
            <a:r>
              <a:t>Scaled RBF SVM paper-inspired baseline: 42.34% test accuracy.</a:t>
            </a:r>
          </a:p>
          <a:p>
            <a:pPr>
              <a:spcAft>
                <a:spcPts val="1300"/>
              </a:spcAft>
              <a:defRPr sz="1600"/>
            </a:pPr>
            <a:r>
              <a:t>Do not compare directly with the paper’s 82%: dataset/features/split differ.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4A7E"/>
                </a:solidFill>
              </a:defRPr>
            </a:pPr>
            <a:r>
              <a:t>Feature Ablation &amp;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/>
            </a:pPr>
            <a:r>
              <a:t>HistGradientBoosting mean grouped CV accuracy: about 46.0% with 10 audio features.</a:t>
            </a:r>
          </a:p>
          <a:p>
            <a:pPr>
              <a:spcAft>
                <a:spcPts val="1300"/>
              </a:spcAft>
              <a:defRPr sz="2200"/>
            </a:pPr>
            <a:r>
              <a:t>With extended features: about 73.1% mean grouped CV accuracy.</a:t>
            </a:r>
          </a:p>
          <a:p>
            <a:pPr>
              <a:spcAft>
                <a:spcPts val="1300"/>
              </a:spcAft>
              <a:defRPr sz="2200"/>
            </a:pPr>
            <a:r>
              <a:t>This supports the usefulness of the extended feature set in this experiment.</a:t>
            </a:r>
          </a:p>
          <a:p>
            <a:pPr>
              <a:spcAft>
                <a:spcPts val="1300"/>
              </a:spcAft>
              <a:defRPr sz="2200"/>
            </a:pPr>
            <a:r>
              <a:t>Because several features were added together, the experiment does not isolate the impact of one feature.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4A7E"/>
                </a:solidFill>
              </a:defRPr>
            </a:pPr>
            <a: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/>
            </a:pPr>
            <a:r>
              <a:t>Original curated playlists and complete 2,095-dimensional artist-genre features are unavailable.</a:t>
            </a:r>
          </a:p>
          <a:p>
            <a:pPr>
              <a:spcAft>
                <a:spcPts val="1300"/>
              </a:spcAft>
              <a:defRPr sz="2200"/>
            </a:pPr>
            <a:r>
              <a:t>Single-label setup simplifies songs that can belong to multiple playlists.</a:t>
            </a:r>
          </a:p>
          <a:p>
            <a:pPr>
              <a:spcAft>
                <a:spcPts val="1300"/>
              </a:spcAft>
              <a:defRPr sz="2200"/>
            </a:pPr>
            <a:r>
              <a:t>Dataset labels are not the same as human preference or playlist satisfaction.</a:t>
            </a:r>
          </a:p>
          <a:p>
            <a:pPr>
              <a:spcAft>
                <a:spcPts val="1300"/>
              </a:spcAft>
              <a:defRPr sz="2200"/>
            </a:pPr>
            <a:r>
              <a:t>Future work: multi-label learning, richer genre features, temporal validation, nested CV and user-centred evaluation.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4A7E"/>
                </a:solidFill>
              </a:defRPr>
            </a:pPr>
            <a:r>
              <a:t>Live Demonstration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/>
            </a:pPr>
            <a:r>
              <a:t>Run the combined notebook top-to-bottom and inspect the model comparison and confusion matrix.</a:t>
            </a:r>
          </a:p>
          <a:p>
            <a:pPr>
              <a:spcAft>
                <a:spcPts val="1300"/>
              </a:spcAft>
              <a:defRPr sz="2200"/>
            </a:pPr>
            <a:r>
              <a:t>Run predict_custom_song.py using the saved champion model and a synthetic feature vector.</a:t>
            </a:r>
          </a:p>
          <a:p>
            <a:pPr>
              <a:spcAft>
                <a:spcPts val="1300"/>
              </a:spcAft>
              <a:defRPr sz="2200"/>
            </a:pPr>
            <a:r>
              <a:t>Explain that custom-input predictions are model estimates, not verified song labels.</a:t>
            </a:r>
          </a:p>
          <a:p>
            <a:pPr>
              <a:spcAft>
                <a:spcPts val="1300"/>
              </a:spcAft>
              <a:defRPr sz="2200"/>
            </a:pPr>
            <a:r>
              <a:t>Conclusion: the extended features and tree ensembles outperform the audio-only baselines on this adapted dataset.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562</Words>
  <Application>Microsoft Office PowerPoint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Abdul Mateen Shaikh</cp:lastModifiedBy>
  <cp:revision>1</cp:revision>
  <dcterms:created xsi:type="dcterms:W3CDTF">2013-01-27T09:14:16Z</dcterms:created>
  <dcterms:modified xsi:type="dcterms:W3CDTF">2026-10-14T05:02:38Z</dcterms:modified>
  <cp:category/>
</cp:coreProperties>
</file>